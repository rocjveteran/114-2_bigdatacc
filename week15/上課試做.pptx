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2" r:id="rId5"/>
    <p:sldId id="264" r:id="rId6"/>
    <p:sldId id="266" r:id="rId7"/>
    <p:sldId id="270" r:id="rId8"/>
    <p:sldId id="268" r:id="rId9"/>
    <p:sldId id="272" r:id="rId10"/>
    <p:sldId id="274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CE5C0F-5114-0282-67A8-3F5ED4C680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zh-TW" sz="3600" b="1" dirty="0">
                <a:solidFill>
                  <a:srgbClr val="1A2B4A"/>
                </a:solidFill>
              </a:rPr>
              <a:t>海事勤務值勤管理系統</a:t>
            </a:r>
          </a:p>
          <a:p>
            <a:pPr algn="ctr">
              <a:buNone/>
            </a:pPr>
            <a:r>
              <a:rPr lang="zh-TW" sz="2000" b="0" dirty="0">
                <a:solidFill>
                  <a:srgbClr val="C0542A"/>
                </a:solidFill>
              </a:rPr>
              <a:t>Maritime Duty Management System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E745B5-EA5C-47A0-74D7-F7AFC447B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zh-TW" sz="1800" dirty="0">
                <a:solidFill>
                  <a:srgbClr val="2E4A7A"/>
                </a:solidFill>
              </a:rPr>
              <a:t>114-2 巨量資料與雲端運算．第 2 組</a:t>
            </a:r>
          </a:p>
          <a:p>
            <a:pPr algn="ctr">
              <a:buNone/>
            </a:pPr>
            <a:r>
              <a:rPr lang="zh-TW" sz="1600" dirty="0">
                <a:solidFill>
                  <a:srgbClr val="5B7FB5"/>
                </a:solidFill>
              </a:rPr>
              <a:t>系統功能介紹 × 大數據分析展示 × 智慧預測應用</a:t>
            </a:r>
          </a:p>
        </p:txBody>
      </p:sp>
    </p:spTree>
    <p:extLst>
      <p:ext uri="{BB962C8B-B14F-4D97-AF65-F5344CB8AC3E}">
        <p14:creationId xmlns:p14="http://schemas.microsoft.com/office/powerpoint/2010/main" val="343854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1734D-E034-F0C9-1CB2-C9F0E785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zh-TW" sz="2800" b="1" dirty="0">
                <a:solidFill>
                  <a:srgbClr val="1A2B4A"/>
                </a:solidFill>
              </a:rPr>
              <a:t>研究背景與動機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9398A2-E7C2-EDA5-4858-87968481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海事勤務管理的現況痛點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傳統紙本值勤紀錄易遺漏、難追溯，效率低落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艦上人員狀態（艦上 / 離艦）缺乏即時掌握機制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請假審核流程繁瑣，資訊分散於多個管道</a:t>
            </a:r>
          </a:p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大數據應用的機會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累積值勤數據可進行趨勢分析與異常偵測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結合海況資料，建立智慧排班預測模型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提升管理效能，支援指揮決策</a:t>
            </a:r>
          </a:p>
        </p:txBody>
      </p:sp>
    </p:spTree>
    <p:extLst>
      <p:ext uri="{BB962C8B-B14F-4D97-AF65-F5344CB8AC3E}">
        <p14:creationId xmlns:p14="http://schemas.microsoft.com/office/powerpoint/2010/main" val="146196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2E4E0-7A48-DDE9-8953-576385B9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zh-TW" sz="2800" b="1" dirty="0">
                <a:solidFill>
                  <a:srgbClr val="1A2B4A"/>
                </a:solidFill>
              </a:rPr>
              <a:t>系統架構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566FF7-2066-8C48-79C9-D8FA980C1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前端（Frontend）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React.js 響應式網頁介面，支援桌機與行動裝置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角色分流：個人員工 / 艦務管理 / 管理員三層權限</a:t>
            </a:r>
          </a:p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後端（Backend）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Node.js / Express RESTful API，處理值勤、請假、人員資料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Python 資料分析模組：趨勢預測、海況相關性分析</a:t>
            </a:r>
          </a:p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資料層（Database）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關聯式資料庫儲存值勤紀錄、請假紀錄、艦上人員資料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雲端部署，支援多艦即時資料同步（目前 2 艦、15 筆測試資料）</a:t>
            </a:r>
          </a:p>
        </p:txBody>
      </p:sp>
    </p:spTree>
    <p:extLst>
      <p:ext uri="{BB962C8B-B14F-4D97-AF65-F5344CB8AC3E}">
        <p14:creationId xmlns:p14="http://schemas.microsoft.com/office/powerpoint/2010/main" val="36883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4B5B6-9175-2BCD-BFF9-74FDAA310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62" y="268872"/>
            <a:ext cx="2511392" cy="2156694"/>
          </a:xfrm>
        </p:spPr>
        <p:txBody>
          <a:bodyPr/>
          <a:lstStyle/>
          <a:p>
            <a:pPr algn="l">
              <a:buNone/>
            </a:pPr>
            <a:r>
              <a:rPr lang="zh-TW" sz="2800" b="1" dirty="0">
                <a:solidFill>
                  <a:srgbClr val="1A2B4A"/>
                </a:solidFill>
              </a:rPr>
              <a:t>系統介面展示：個人儀表板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59D8202-EF77-5BDC-36D2-47BA058C8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580"/>
          <a:stretch/>
        </p:blipFill>
        <p:spPr>
          <a:xfrm>
            <a:off x="2917112" y="311331"/>
            <a:ext cx="9274888" cy="623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51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77602-52A7-B086-653B-FEAAF559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zh-TW" sz="2800" b="1" dirty="0">
                <a:solidFill>
                  <a:srgbClr val="1A2B4A"/>
                </a:solidFill>
              </a:rPr>
              <a:t>核心功能模組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3CD9C8-6FE2-3FAE-AEAB-AD37193584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zh-TW" sz="1800" b="1" dirty="0">
                <a:solidFill>
                  <a:srgbClr val="1D5FA0"/>
                </a:solidFill>
              </a:rPr>
              <a:t>👤 個人功能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值勤打卡：GPS 定位 + 一鍵開始 / 結束值勤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我的紀錄：過往值勤明細與時數統計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請假申請：新增 / 查詢 / 追蹤請假狀態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個人檔案：職務設定、累計時數、偏好管理</a:t>
            </a:r>
          </a:p>
          <a:p>
            <a:pPr>
              <a:buNone/>
            </a:pPr>
            <a:r>
              <a:rPr lang="zh-TW" sz="1800" b="1" dirty="0">
                <a:solidFill>
                  <a:srgbClr val="1D5FA0"/>
                </a:solidFill>
              </a:rPr>
              <a:t>⚓ 艦務功能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艦上人員：花名冊與即時在艦狀態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航次紀錄：依日期整整艦務出勤摘要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FF8F5A-AC86-09F9-4AEE-9534A9E9C7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zh-TW" sz="1800" b="1" dirty="0">
                <a:solidFill>
                  <a:srgbClr val="C0542A"/>
                </a:solidFill>
              </a:rPr>
              <a:t>🛠 管理功能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勤務總覽：全艦值勤狀況即時監控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請假審核：主管一鍵批准 / 駁回，簡訊通知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帳號管理：人員新增 / 停用 / 權限設定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分析儀表板：值勤趨勢 / 預測 / 異常偵測</a:t>
            </a:r>
          </a:p>
          <a:p>
            <a:pPr>
              <a:buNone/>
            </a:pPr>
            <a:r>
              <a:rPr lang="zh-TW" sz="1800" b="1" dirty="0">
                <a:solidFill>
                  <a:srgbClr val="C0542A"/>
                </a:solidFill>
              </a:rPr>
              <a:t>📊 儀表板亮點數據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今日艦上配置：9/13 人員出勤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近 14 天值勤趨勢，最高 10.5 小時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待批簽假：4 筆自動提醒管理員審核</a:t>
            </a:r>
          </a:p>
        </p:txBody>
      </p:sp>
    </p:spTree>
    <p:extLst>
      <p:ext uri="{BB962C8B-B14F-4D97-AF65-F5344CB8AC3E}">
        <p14:creationId xmlns:p14="http://schemas.microsoft.com/office/powerpoint/2010/main" val="1139336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0671D-A533-8B4C-EBFA-CE98A7BE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160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zh-TW" sz="2800" b="1" dirty="0">
                <a:solidFill>
                  <a:srgbClr val="1A2B4A"/>
                </a:solidFill>
              </a:rPr>
              <a:t>系統介面展示：大數據分析儀表板</a:t>
            </a:r>
          </a:p>
        </p:txBody>
      </p:sp>
      <p:pic>
        <p:nvPicPr>
          <p:cNvPr id="4" name="圖片 3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5EC89244-9184-B207-0979-FDA7A1997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91" y="2995432"/>
            <a:ext cx="4492809" cy="3862568"/>
          </a:xfrm>
          <a:prstGeom prst="rect">
            <a:avLst/>
          </a:prstGeom>
        </p:spPr>
      </p:pic>
      <p:pic>
        <p:nvPicPr>
          <p:cNvPr id="6" name="圖片 5" descr="一張含有 文字, 螢幕擷取畫面, 數字, 圖表 的圖片&#10;&#10;AI 產生的內容可能不正確。">
            <a:extLst>
              <a:ext uri="{FF2B5EF4-FFF2-40B4-BE49-F238E27FC236}">
                <a16:creationId xmlns:a16="http://schemas.microsoft.com/office/drawing/2014/main" id="{BD2A2157-C8F0-8D21-4C41-CE2A49649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892" y="4036312"/>
            <a:ext cx="4129300" cy="2821688"/>
          </a:xfrm>
          <a:prstGeom prst="rect">
            <a:avLst/>
          </a:prstGeom>
        </p:spPr>
      </p:pic>
      <p:pic>
        <p:nvPicPr>
          <p:cNvPr id="8" name="圖片 7" descr="一張含有 文字, 螢幕擷取畫面, 行, 數字 的圖片&#10;&#10;AI 產生的內容可能不正確。">
            <a:extLst>
              <a:ext uri="{FF2B5EF4-FFF2-40B4-BE49-F238E27FC236}">
                <a16:creationId xmlns:a16="http://schemas.microsoft.com/office/drawing/2014/main" id="{96DB4884-8196-5232-7CB2-104BA4D4F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841" y="492088"/>
            <a:ext cx="4497159" cy="2503344"/>
          </a:xfrm>
          <a:prstGeom prst="rect">
            <a:avLst/>
          </a:prstGeom>
        </p:spPr>
      </p:pic>
      <p:pic>
        <p:nvPicPr>
          <p:cNvPr id="10" name="圖片 9" descr="一張含有 文字, 螢幕擷取畫面, 圖表, 數字 的圖片">
            <a:extLst>
              <a:ext uri="{FF2B5EF4-FFF2-40B4-BE49-F238E27FC236}">
                <a16:creationId xmlns:a16="http://schemas.microsoft.com/office/drawing/2014/main" id="{A5CA6BB3-D765-0465-B005-55C2C8B4E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7" y="3872199"/>
            <a:ext cx="3549785" cy="2985801"/>
          </a:xfrm>
          <a:prstGeom prst="rect">
            <a:avLst/>
          </a:prstGeom>
        </p:spPr>
      </p:pic>
      <p:pic>
        <p:nvPicPr>
          <p:cNvPr id="12" name="圖片 11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5C608DDC-3C5F-F223-B0D3-48FCFDF7F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6506" y="1885185"/>
            <a:ext cx="4856160" cy="215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0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39B15-B6A7-2C9C-6161-BDED19D3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zh-TW" sz="2800" b="1" dirty="0">
                <a:solidFill>
                  <a:srgbClr val="1A2B4A"/>
                </a:solidFill>
              </a:rPr>
              <a:t>大數據分析功能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BB4673-FD2F-9A6C-EC4E-4EEB10A26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值勤與請假趨勢分析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時間序列折線圖呈現每日值勤人數消長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柱狀圖對比各艦請假率，識別異常波動</a:t>
            </a:r>
          </a:p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預測模型與相關性分析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時間序列預測（ARIMA / LSTM）預估未來值勤需求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相關矩陣熱圖：探索值勤時數、請假率、海況的相互影響</a:t>
            </a:r>
          </a:p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海況與工時相關分析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整合外部海象資料，分析海況等級對出勤率的影響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艦艇調度人員互動模擬：支援最佳排班決策</a:t>
            </a:r>
          </a:p>
          <a:p>
            <a:pPr marL="342900" indent="-342900">
              <a:buFont typeface="Arial"/>
              <a:buChar char="■"/>
            </a:pPr>
            <a:r>
              <a:rPr lang="zh-TW" sz="1800" b="1" dirty="0">
                <a:solidFill>
                  <a:srgbClr val="C0542A"/>
                </a:solidFill>
              </a:rPr>
              <a:t>資料規模（目前）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15 筆預測定型資料、2 艘艦、1,200 筆歷史紀錄</a:t>
            </a:r>
          </a:p>
          <a:p>
            <a:pPr marL="685800" indent="-342900">
              <a:buFont typeface="Arial"/>
              <a:buChar char="‣"/>
            </a:pPr>
            <a:r>
              <a:rPr lang="zh-TW" sz="1600" dirty="0">
                <a:solidFill>
                  <a:srgbClr val="1A2B4A"/>
                </a:solidFill>
              </a:rPr>
              <a:t>模型準確率：9.02% MAPE（平均絕對百分比誤差）</a:t>
            </a:r>
          </a:p>
        </p:txBody>
      </p:sp>
    </p:spTree>
    <p:extLst>
      <p:ext uri="{BB962C8B-B14F-4D97-AF65-F5344CB8AC3E}">
        <p14:creationId xmlns:p14="http://schemas.microsoft.com/office/powerpoint/2010/main" val="425889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A78A30-37FB-16BB-1C8B-1EC80859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zh-TW" sz="2800" b="1" dirty="0">
                <a:solidFill>
                  <a:srgbClr val="1A2B4A"/>
                </a:solidFill>
              </a:rPr>
              <a:t>技術實現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2C7947-8F33-DBE3-708E-F0B6812DE7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zh-TW" sz="1800" b="1" dirty="0">
                <a:solidFill>
                  <a:srgbClr val="1D5FA0"/>
                </a:solidFill>
              </a:rPr>
              <a:t>前端技術棧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React.js + TailwindCSS 響應式介面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Recharts / Chart.js 動態資料視覺化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JWT 身份驗證 + 角色型存取控制（RBAC）</a:t>
            </a:r>
          </a:p>
          <a:p>
            <a:pPr>
              <a:buNone/>
            </a:pPr>
            <a:r>
              <a:rPr lang="zh-TW" sz="1800" b="1" dirty="0">
                <a:solidFill>
                  <a:srgbClr val="1D5FA0"/>
                </a:solidFill>
              </a:rPr>
              <a:t>後端技術棧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Node.js + Express.js RESTful API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MySQL / PostgreSQL 關聯式資料庫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Docker 容器化部署，支援水平擴展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A4C827-6CC8-FA83-ED89-F0B469BF7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zh-TW" sz="1800" b="1" dirty="0">
                <a:solidFill>
                  <a:srgbClr val="C0542A"/>
                </a:solidFill>
              </a:rPr>
              <a:t>資料分析技術棧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Python：pandas、NumPy 資料清洗與處理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scikit-learn / statsmodels 建構預測模型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Seaborn / Plotly 進階資料視覺化</a:t>
            </a:r>
          </a:p>
          <a:p>
            <a:pPr>
              <a:buNone/>
            </a:pPr>
            <a:r>
              <a:rPr lang="zh-TW" sz="1800" b="1" dirty="0">
                <a:solidFill>
                  <a:srgbClr val="C0542A"/>
                </a:solidFill>
              </a:rPr>
              <a:t>雲端與 DevOps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雲端平台部署（GCP / AWS）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GitHub Actions CI/CD 自動化測試與部署</a:t>
            </a:r>
          </a:p>
          <a:p>
            <a:pPr marL="342900" indent="-342900">
              <a:buFont typeface="Arial"/>
              <a:buChar char="•"/>
            </a:pPr>
            <a:r>
              <a:rPr lang="zh-TW" sz="1600" dirty="0">
                <a:solidFill>
                  <a:srgbClr val="1A2B4A"/>
                </a:solidFill>
              </a:rPr>
              <a:t>WebSocket 即時通訊，推送值勤狀態更新</a:t>
            </a:r>
          </a:p>
        </p:txBody>
      </p:sp>
    </p:spTree>
    <p:extLst>
      <p:ext uri="{BB962C8B-B14F-4D97-AF65-F5344CB8AC3E}">
        <p14:creationId xmlns:p14="http://schemas.microsoft.com/office/powerpoint/2010/main" val="312429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ade385-78d1-4331-b473-efd935a97c09}">
  <we:reference id="WA200010725" version="1.0.0.1" store="en-US" storeType="OMEX"/>
  <we:alternateReferences/>
  <we:properties>
    <we:property name="Microsoft.Office.CampaignId" value="&quot;none&quot;"/>
    <we:property name="claude.fileId" value="&quot;2f0ced70-4792-4fbb-9ed1-9ad31c0cb16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681</Words>
  <Application>Microsoft Office PowerPoint</Application>
  <PresentationFormat>寬螢幕</PresentationFormat>
  <Paragraphs>73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海事勤務值勤管理系統 Maritime Duty Management System</vt:lpstr>
      <vt:lpstr>研究背景與動機</vt:lpstr>
      <vt:lpstr>系統架構</vt:lpstr>
      <vt:lpstr>系統介面展示：個人儀表板</vt:lpstr>
      <vt:lpstr>核心功能模組</vt:lpstr>
      <vt:lpstr>系統介面展示：大數據分析儀表板</vt:lpstr>
      <vt:lpstr>大數據分析功能</vt:lpstr>
      <vt:lpstr>技術實現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Teacher</cp:lastModifiedBy>
  <cp:revision>5</cp:revision>
  <dcterms:created xsi:type="dcterms:W3CDTF">2018-06-07T21:39:02Z</dcterms:created>
  <dcterms:modified xsi:type="dcterms:W3CDTF">2026-06-02T07:35:13Z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